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FFFF"/>
                </a:solidFill>
                <a:latin typeface="Helvetica Neue"/>
              </a:rPr>
              <a:t>PLYNOS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5FFF"/>
                </a:solidFill>
                <a:latin typeface="Helvetica Neue"/>
              </a:rPr>
              <a:t>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Helvetica Neue"/>
              </a:rPr>
              <a:t>Website Creation
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548640" cy="36576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Helvetica Neue"/>
              </a:rPr>
              <a:t>Prepared for [Client Business Name]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943600"/>
            <a:ext cx="10545775" cy="914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Helvetica Neue"/>
              </a:rPr>
              <a:t>Prepared by  Harry Davies · Plynos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135" y="6080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Helvetica Neue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01 /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5FFF"/>
                </a:solidFill>
                <a:latin typeface="Helvetica Neue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B1220"/>
                </a:solidFill>
                <a:latin typeface="Helvetica Neue"/>
              </a:rPr>
              <a:t>A clean, modern website
that works as hard
as the business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solidFill>
                  <a:srgbClr val="5B6472"/>
                </a:solidFill>
                <a:latin typeface="Helvetica Neue"/>
              </a:rPr>
              <a:t>The goal is to design and build a website for [Client Business Name] that presents the business clearly, builds trust with customers, and makes it easy for them to get in touch.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solidFill>
                  <a:srgbClr val="5B6472"/>
                </a:solidFill>
                <a:latin typeface="Helvetica Neue"/>
              </a:rPr>
              <a:t>It should look good on any device, load quickly, and be simple enough that a first-time visitor immediately understands what you do and how to contact you.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solidFill>
                  <a:srgbClr val="5B6472"/>
                </a:solidFill>
                <a:latin typeface="Helvetica Neue"/>
              </a:rPr>
              <a:t>Nothing flashy. Nothing complicated. Just a well-built site that does its job, every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02 / 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Helvetica Neue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Three practical reasons a professional site pays for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5FFF"/>
                </a:solidFill>
                <a:latin typeface="Helvetica Neue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365760" cy="27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Helvetica Neue"/>
              </a:rPr>
              <a:t>Customers check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Helvetica Neue"/>
              </a:rPr>
              <a:t>Most people look up a business online before they call, message, or visit. A clear, professional site is often the first impression they 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651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5FFF"/>
                </a:solidFill>
                <a:latin typeface="Helvetica Neue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657600"/>
            <a:ext cx="365760" cy="27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7947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Helvetica Neue"/>
              </a:rPr>
              <a:t>A site builds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48056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Helvetica Neue"/>
              </a:rPr>
              <a:t>A simple, well-built website signals that the business is real, established, and serious. It reassures customers before they ever pick up the phone.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651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5FFF"/>
                </a:solidFill>
                <a:latin typeface="Helvetica Neue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657600"/>
            <a:ext cx="365760" cy="27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9476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Helvetica Neue"/>
              </a:rPr>
              <a:t>One central 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8056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Helvetica Neue"/>
              </a:rPr>
              <a:t>Services, contact details, photos, and credibility, all in one place that you control, not scattered across social profiles or directory listings.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03 /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Helvetica Neue"/>
              </a:rPr>
              <a:t>What's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The standard package, designed around [Client Business Name].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36391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42032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05456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79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Homepage / 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A focused first page that explains what you do at a glance.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136391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42032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505456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68879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Services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70632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A clear breakdown of what you offer, written in plain language.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39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55263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18687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About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20439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A short, credible introduction to the business and the people behind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88620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291839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255263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218687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Contact section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520439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Phone, email, address, and a simple contact form, easy to use.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36008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41648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0507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968496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Mobile-friendly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270248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Built to work and feel right on phones, tablets, and desktops.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36008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041648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00507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968496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Basic SEO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70248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Sensible page titles, descriptions, and structure so your site can be found.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85816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791455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754879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718303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Fast-loading 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020055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Clean code and optimised images so pages open quickly.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385816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91455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754879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718303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Domain and hosting guidance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020055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Help choosing and connecting a domain, and getting it live.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135624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541264"/>
            <a:ext cx="256032" cy="256032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504688"/>
            <a:ext cx="256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5FFF"/>
                </a:solidFill>
                <a:latin typeface="Helvetica Neue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68112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Pre-launch revisions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769864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472"/>
                </a:solidFill>
                <a:latin typeface="Helvetica Neue"/>
              </a:rPr>
              <a:t>A round of adjustments before launch so you're happy with the result.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04 /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Helvetica Neue"/>
              </a:rPr>
              <a:t>How the site is designed and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Six principles guide the work, from first sketch to launch day for [Client Industry] clients.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3657600" cy="1783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Helvetica Neue"/>
              </a:rPr>
              <a:t>Simple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Helvetica Neue"/>
              </a:rPr>
              <a:t>A clean layout that doesn't fight for attention. Information is easy to find.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606040"/>
            <a:ext cx="3657600" cy="1783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880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Helvetica Neue"/>
              </a:rPr>
              <a:t>Clear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Helvetica Neue"/>
              </a:rPr>
              <a:t>Plain, confident copy that explains what you do without jargon or filler.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606040"/>
            <a:ext cx="3657600" cy="1783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880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Helvetica Neue"/>
              </a:rPr>
              <a:t>Mobile-first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657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Helvetica Neue"/>
              </a:rPr>
              <a:t>Designed for the phone first, then scaled up. That's how most people will see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3657600" cy="1783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Helvetica Neue"/>
              </a:rPr>
              <a:t>Contact-focused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Helvetica Neue"/>
              </a:rPr>
              <a:t>Every page is built to make getting in touch the obvious next step.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526280"/>
            <a:ext cx="3657600" cy="1783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800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166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Helvetica Neue"/>
              </a:rPr>
              <a:t>Easy to 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5778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Helvetica Neue"/>
              </a:rPr>
              <a:t>Generous spacing, strong hierarchy, and copy your customers will actually understand.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526280"/>
            <a:ext cx="3657600" cy="17830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800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166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Helvetica Neue"/>
              </a:rPr>
              <a:t>Built around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5778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Helvetica Neue"/>
              </a:rPr>
              <a:t>Designed around your real services, your real customers, your real brand.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05 /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Helvetica Neue"/>
              </a:rPr>
              <a:t>Project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One clear price. Paid in two simple stages.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5486400" cy="33832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9CA3AF"/>
                </a:solidFill>
                <a:latin typeface="Helvetica Neue"/>
              </a:rPr>
              <a:t>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FFFFF"/>
                </a:solidFill>
                <a:latin typeface="Helvetica Neue"/>
              </a:rPr>
              <a:t>€600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Helvetica Neue"/>
              </a:rPr>
              <a:t>+ VAT if applicable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029200"/>
            <a:ext cx="457200" cy="2743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Helvetica Neue"/>
              </a:rPr>
              <a:t>Includes design, development, setup, and launch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5FFF"/>
                </a:solidFill>
                <a:latin typeface="Helvetica Neue"/>
              </a:rPr>
              <a:t>PAYMENT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2120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220"/>
                </a:solidFill>
                <a:latin typeface="Helvetica Neue"/>
              </a:rPr>
              <a:t>Deposit to begin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Helvetica Neue"/>
              </a:rPr>
              <a:t>Paid before work starts.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3832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 i="0">
                <a:solidFill>
                  <a:srgbClr val="0B1220"/>
                </a:solidFill>
                <a:latin typeface="Helvetica Neue"/>
              </a:rPr>
              <a:t>€300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43400"/>
            <a:ext cx="52120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220"/>
                </a:solidFill>
                <a:latin typeface="Helvetica Neue"/>
              </a:rPr>
              <a:t>Final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Helvetica Neue"/>
              </a:rPr>
              <a:t>Paid before the site goes live.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617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 i="0">
                <a:solidFill>
                  <a:srgbClr val="0B1220"/>
                </a:solidFill>
                <a:latin typeface="Helvetica Neue"/>
              </a:rPr>
              <a:t>€300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577840"/>
            <a:ext cx="52120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85215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Helvetica Neue"/>
              </a:rPr>
              <a:t>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806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0B5FFF"/>
                </a:solidFill>
                <a:latin typeface="Helvetica Neue"/>
              </a:rPr>
              <a:t>€600 + VAT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06 /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Helvetica Neue"/>
              </a:rPr>
              <a:t>Estimated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From kick-off to launch, usually within 5–7 business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520440"/>
            <a:ext cx="8899855" cy="3657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7904" y="3410712"/>
            <a:ext cx="256032" cy="25603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0B5FFF"/>
                </a:solidFill>
                <a:latin typeface="Helvetica Neue"/>
              </a:rPr>
              <a:t>Day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Helvetica Neue"/>
              </a:rPr>
              <a:t>Kick-off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Helvetica Neue"/>
              </a:rPr>
              <a:t>Content and deposit received.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4522" y="3410712"/>
            <a:ext cx="256032" cy="25603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8138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0B5FFF"/>
                </a:solidFill>
                <a:latin typeface="Helvetica Neue"/>
              </a:rPr>
              <a:t>Day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2378" y="2926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Helvetica Neue"/>
              </a:rPr>
              <a:t>Initial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378" y="384048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Helvetica Neue"/>
              </a:rPr>
              <a:t>First design draft delivered for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1140" y="3410712"/>
            <a:ext cx="256032" cy="25603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4756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0B5FFF"/>
                </a:solidFill>
                <a:latin typeface="Helvetica Neue"/>
              </a:rPr>
              <a:t>Day 4–6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8996" y="2926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Helvetica Neue"/>
              </a:rPr>
              <a:t>Revisions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8996" y="384048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Helvetica Neue"/>
              </a:rPr>
              <a:t>1–3 business days of adjustments and refinements.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17759" y="3410712"/>
            <a:ext cx="256032" cy="25603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1375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0B5FFF"/>
                </a:solidFill>
                <a:latin typeface="Helvetica Neue"/>
              </a:rPr>
              <a:t>Day 5–7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5615" y="2926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B1220"/>
                </a:solidFill>
                <a:latin typeface="Helvetica Neue"/>
              </a:rPr>
              <a:t>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5615" y="384048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Helvetica Neue"/>
              </a:rPr>
              <a:t>Site goes live, handover complete.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11094415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Helvetica Neue"/>
              </a:rPr>
              <a:t>Timing depends on how quickly business information, images, and feedback are provided.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07 / WHAT I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220"/>
                </a:solidFill>
                <a:latin typeface="Helvetica Neue"/>
              </a:rPr>
              <a:t>What I need from [Client Business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A short list. The faster these arrive, the faster the site goes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7063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Business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The official name as you'd like it shown on the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33756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77063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If you have one. We can work without it if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4787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Main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What you offer, in your own words.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11480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4787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4290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Short business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49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A few lines about who you are and what you 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2511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Contact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Phone, email, address, and any social profiles.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89204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32511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20624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Preferred colours /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Optional. Any references or examples you like.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6928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10235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98348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Photos / images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03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Anything you'd like featured. Optional.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5669280"/>
            <a:ext cx="5440680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5102352"/>
            <a:ext cx="164592" cy="164592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98348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B1220"/>
                </a:solidFill>
                <a:latin typeface="Helvetica Neue"/>
              </a:rPr>
              <a:t>Domain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303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Helvetica Neue"/>
              </a:rPr>
              <a:t>If you already own a domain, the login or registrar.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5FFF"/>
                </a:solidFill>
                <a:latin typeface="Helvetica Neue"/>
              </a:rPr>
              <a:t>No written content yet? Simple website copy can be drafted for you as part of the package.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08 /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220"/>
                </a:solidFill>
                <a:latin typeface="Helvetica Neue"/>
              </a:rPr>
              <a:t>Not included unless agreed separately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Helvetica Neue"/>
              </a:rPr>
              <a:t>To keep the package clean and the price clear, the items below sit outside the standard scope. Any of them can be added on request.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109441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17296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6324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Paid advertising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317296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306324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Advanced SEO 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2160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8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Ongoing edits after 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72160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361188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Professional photography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7024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16052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Complex booking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427024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16052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E-commerce functionality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1888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7091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Custom software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481888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47091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Monthly hosting / domain fees unless agreed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367528"/>
            <a:ext cx="164592" cy="3657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25780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Helvetica Neue"/>
              </a:rPr>
              <a:t>Legal policies unless legal text is provided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Helvetica Neue"/>
              </a:rPr>
              <a:t>Anything in this list can be added later. Prices for additional work are quoted separately.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B1220"/>
                </a:solidFill>
                <a:latin typeface="Helvetica Neue"/>
              </a:rPr>
              <a:t>PLYNOS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411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B6472"/>
                </a:solidFill>
                <a:latin typeface="Helvetica Neue"/>
              </a:rPr>
              <a:t>09 /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Helvetica Neue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Helvetica Neue"/>
              </a:rPr>
              <a:t>From acceptance to a live website, in five short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Helvetica Neue"/>
              </a:rPr>
              <a:t>Confirm acceptance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614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Helvetica Neue"/>
              </a:rPr>
              <a:t>By email or WhatsApp, whichever is easier.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Helvetica Neue"/>
              </a:rPr>
              <a:t>Deposit invoice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101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Helvetica Neue"/>
              </a:rPr>
              <a:t>A €300 deposit invoice is sent 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Helvetica Neue"/>
              </a:rPr>
              <a:t>Send your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8587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Helvetica Neue"/>
              </a:rPr>
              <a:t>Business information, images, and any preferences.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Helvetica Neue"/>
              </a:rPr>
              <a:t>First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074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Helvetica Neue"/>
              </a:rPr>
              <a:t>Initial design draft within 2–4 business days.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37759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377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Helvetica Neue"/>
              </a:rPr>
              <a:t>Revisions and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9560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Helvetica Neue"/>
              </a:rPr>
              <a:t>Final adjustments, then the site goes live.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332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Once accepted, work can begin as soon as the deposit has been received.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573328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Ready to start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55080"/>
            <a:ext cx="11094415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Helvetica Neue"/>
              </a:rPr>
              <a:t>Plynos · Website Creation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FFFF"/>
                </a:solidFill>
                <a:latin typeface="Helvetica Neue"/>
              </a:rPr>
              <a:t>PLYNOS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Helvetica Neue"/>
              </a:rPr>
              <a:t>Thank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40480"/>
            <a:ext cx="548640" cy="36576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7223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Helvetica Neue"/>
              </a:rPr>
              <a:t>If anything in this proposal needs adjusting for [Client Business Name], just say. The shape of the work can flex around what's actually useful.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Helvetica Neue"/>
              </a:rPr>
              <a:t>Otherwise, a quick yes by email or WhatsApp is enough to begin.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4023360"/>
            <a:ext cx="3108960" cy="1737360"/>
          </a:xfrm>
          <a:prstGeom prst="rect">
            <a:avLst/>
          </a:prstGeom>
          <a:solidFill>
            <a:srgbClr val="121B2D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0B5FFF"/>
                </a:solidFill>
                <a:latin typeface="Helvetica Neue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Harry Davies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Helvetica Neue"/>
              </a:rPr>
              <a:t>Plynos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074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Helvetica Neue"/>
              </a:rPr>
              <a:t>plynos.dev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Helvetica Neue"/>
              </a:rPr>
              <a:t>harrycroxforddavies@gmail.com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Helvetica Neue"/>
              </a:rPr>
              <a:t>Prepared for [Client Business Name] · [Date]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